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25초</a:t>
            </a:r>
            <a:endParaRPr lang="ko-KR" sz="1350"/>
          </a:p>
          <a:p>
            <a:pPr>
              <a:lnSpc>
                <a:spcPct val="115000"/>
              </a:lnSpc>
            </a:pPr>
            <a:r>
              <a:rPr lang="ko-KR" sz="1350">
                <a:solidFill>
                  <a:srgbClr val="263248"/>
                </a:solidFill>
                <a:latin typeface="Apple SD Gothic Neo"/>
                <a:ea typeface="Apple SD Gothic Neo"/>
                <a:cs typeface="Apple SD Gothic Neo"/>
              </a:rPr>
              <a:t xml:space="preserve">과제 1을 선택했습니다. 제공된 에이전트의 조사 대상과 복합 증상 검색을 보완하고, 근거와 조건을 확인하는 보고서를 만들었습니다. 실제 조치는 실행하지 않고 운영자의 판단을 돕습니다. 기반은 FastAPI, Vue, MCP, LangGraph와 LangSmith이며 제가 개선한 범위를 구분해서 설명하겠습니다.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README.md, doc/README.md, docs/프로젝트_보고서.md</a:t>
            </a:r>
            <a:endParaRPr lang="ko-KR" sz="135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25초</a:t>
            </a:r>
            <a:endParaRPr lang="ko-KR" sz="1350"/>
          </a:p>
          <a:p>
            <a:pPr>
              <a:lnSpc>
                <a:spcPct val="115000"/>
              </a:lnSpc>
            </a:pPr>
            <a:r>
              <a:rPr lang="ko-KR" sz="1350">
                <a:solidFill>
                  <a:srgbClr val="263248"/>
                </a:solidFill>
                <a:latin typeface="Apple SD Gothic Neo"/>
                <a:ea typeface="Apple SD Gothic Neo"/>
                <a:cs typeface="Apple SD Gothic Neo"/>
              </a:rPr>
              <a:t xml:space="preserve">대상이 없거나 등록되지 않은 경우 다른 서비스로 대신 조회하지 않습니다. 여러 시스템의 조사 계획을 보완하고 작업 일부가 실패해도 확보한 자료를 유지합니다. 런북 검색, 내용 검증, 보고서 화면을 추가·개선했습니다. 기존 Graph 노드는 역할별 파일로 분리했으며 새로운 전문 멀티 에이전트 서브그래프를 만들었다는 의미는 아닙니다.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agent/targets.py, agent/planning.py, agent/nodes/research.py, agent/runbook_search.py, web_chat.html</a:t>
            </a:r>
            <a:endParaRPr lang="ko-KR" sz="1350"/>
          </a:p>
          <a:p>
            <a:pPr>
              <a:lnSpc>
                <a:spcPct val="115000"/>
              </a:lnSpc>
            </a:pPr>
            <a:r>
              <a:rPr lang="ko-KR" sz="1350">
                <a:solidFill>
                  <a:srgbClr val="263248"/>
                </a:solidFill>
                <a:latin typeface="Apple SD Gothic Neo"/>
                <a:ea typeface="Apple SD Gothic Neo"/>
                <a:cs typeface="Apple SD Gothic Neo"/>
              </a:rPr>
              <a:t xml:space="preserve">캡처: docs/presentation/captures/04_미등록대상_확인.png</a:t>
            </a:r>
            <a:endParaRPr lang="ko-KR" sz="135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40초</a:t>
            </a:r>
            <a:endParaRPr lang="ko-KR" sz="1350"/>
          </a:p>
          <a:p>
            <a:pPr>
              <a:lnSpc>
                <a:spcPct val="115000"/>
              </a:lnSpc>
            </a:pPr>
            <a:r>
              <a:rPr lang="ko-KR" sz="1350">
                <a:solidFill>
                  <a:srgbClr val="263248"/>
                </a:solidFill>
                <a:latin typeface="Apple SD Gothic Neo"/>
                <a:ea typeface="Apple SD Gothic Neo"/>
                <a:cs typeface="Apple SD Gothic Neo"/>
              </a:rPr>
              <a:t xml:space="preserve">같은 시스템에서 CPU와 메모리를 함께 물었습니다. 진행 기록과 상세 근거에서 cpu-spike와 memory-leak가 모두 선택됐습니다. 이번 캡처의 현재 CPU는 90.1%, 메모리는 54.5%입니다. CPU 조건도 지속 여부를 수집하지 못해 추가 확인이 필요하고, 메모리는 90% 조건에 미달해 조치를 보류합니다. 이것은 대표 사례의 결과이며 전체 검색 정확도나 원인 확정을 뜻하지 않습니다.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docs/presentation/captures/01_화면내용.txt, 02_화면내용.txt</a:t>
            </a:r>
            <a:endParaRPr lang="ko-KR" sz="1350"/>
          </a:p>
          <a:p>
            <a:pPr>
              <a:lnSpc>
                <a:spcPct val="115000"/>
              </a:lnSpc>
            </a:pPr>
            <a:r>
              <a:rPr lang="ko-KR" sz="1350">
                <a:solidFill>
                  <a:srgbClr val="263248"/>
                </a:solidFill>
                <a:latin typeface="Apple SD Gothic Neo"/>
                <a:ea typeface="Apple SD Gothic Neo"/>
                <a:cs typeface="Apple SD Gothic Neo"/>
              </a:rPr>
              <a:t xml:space="preserve">캡처: 01_복합증상_요약.png의 보고서 부분만 확대. 원본 전체와 검색 근거는 captures/에 별도 보관.</a:t>
            </a:r>
            <a:endParaRPr lang="ko-KR" sz="135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30초</a:t>
            </a:r>
            <a:endParaRPr lang="ko-KR" sz="1350"/>
          </a:p>
          <a:p>
            <a:pPr>
              <a:lnSpc>
                <a:spcPct val="115000"/>
              </a:lnSpc>
            </a:pPr>
            <a:r>
              <a:rPr lang="ko-KR" sz="1350">
                <a:solidFill>
                  <a:srgbClr val="263248"/>
                </a:solidFill>
                <a:latin typeface="Apple SD Gothic Neo"/>
                <a:ea typeface="Apple SD Gothic Neo"/>
                <a:cs typeface="Apple SD Gothic Neo"/>
              </a:rPr>
              <a:t xml:space="preserve">사용자가 CPU·메모리·응답 지연 대응을 제외하고 TLS 인증서 만료를 물었습니다. 현재 도구와 6개 매뉴얼로 인증서 만료를 확인할 수 없어서 적합한 매뉴얼 없음으로 처리하고 AI 제안 생성을 생략했습니다. 관련 없는 지연 매뉴얼로 대신 답하지 않습니다. 화면은 요약을 먼저 보여주고 근거는 펼쳐 볼 수 있습니다.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docs/presentation/captures/03_화면내용.txt</a:t>
            </a:r>
            <a:endParaRPr lang="ko-KR" sz="1350"/>
          </a:p>
          <a:p>
            <a:pPr>
              <a:lnSpc>
                <a:spcPct val="115000"/>
              </a:lnSpc>
            </a:pPr>
            <a:r>
              <a:rPr lang="ko-KR" sz="1350">
                <a:solidFill>
                  <a:srgbClr val="263248"/>
                </a:solidFill>
                <a:latin typeface="Apple SD Gothic Neo"/>
                <a:ea typeface="Apple SD Gothic Neo"/>
                <a:cs typeface="Apple SD Gothic Neo"/>
              </a:rPr>
              <a:t xml:space="preserve">캡처: 03_TLS_확인불가.png의 보고서 부분 확대</a:t>
            </a:r>
            <a:endParaRPr lang="ko-KR" sz="135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45초</a:t>
            </a:r>
            <a:endParaRPr lang="ko-KR" sz="1350"/>
          </a:p>
          <a:p>
            <a:pPr>
              <a:lnSpc>
                <a:spcPct val="115000"/>
              </a:lnSpc>
            </a:pPr>
            <a:r>
              <a:rPr lang="ko-KR" sz="1350">
                <a:solidFill>
                  <a:srgbClr val="263248"/>
                </a:solidFill>
                <a:latin typeface="Apple SD Gothic Neo"/>
                <a:ea typeface="Apple SD Gothic Neo"/>
                <a:cs typeface="Apple SD Gothic Neo"/>
              </a:rPr>
              <a:t xml:space="preserve">graph.py에서 build_graph를 보여줍니다. add_edge는 다음에 실행할 노드를 연결합니다. 조사 결과가 부족하면 런북 조회로 돌아가고, 답변 검증에 실패하면 최대 세 번까지 재작성합니다. state는 이번 질문의 기록장이고 deps는 모델·MCP·검색기를 담은 공통 도구 상자입니다. 제공된 의존성 주입 구조에 검색기를 추가했습니다. 노드 구현을 nodes 폴더로 옮겨 graph.py에는 연결과 분기를 남겼습니다.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agent/graph.py:35, agent/state.py, agent/deps.py</a:t>
            </a:r>
            <a:endParaRPr lang="ko-KR" sz="135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40초</a:t>
            </a:r>
            <a:endParaRPr lang="ko-KR" sz="1350"/>
          </a:p>
          <a:p>
            <a:pPr>
              <a:lnSpc>
                <a:spcPct val="115000"/>
              </a:lnSpc>
            </a:pPr>
            <a:r>
              <a:rPr lang="ko-KR" sz="1350">
                <a:solidFill>
                  <a:srgbClr val="263248"/>
                </a:solidFill>
                <a:latin typeface="Apple SD Gothic Neo"/>
                <a:ea typeface="Apple SD Gothic Neo"/>
                <a:cs typeface="Apple SD Gothic Neo"/>
              </a:rPr>
              <a:t xml:space="preserve">research.py의 research_node를 보여줍니다. MCP Tool get_monitoring_status로 상태를 조회하고, Resource로 런북 원문을 가져옵니다. 계획 단계에서는 MCP Prompt로 조사 절차를 받습니다. 아래 gather의 return_exceptions=True를 통해 작업별 실패를 수집하고 성공 결과를 보존합니다. 이후 실패·매뉴얼 부족 시 사실과 한계를 보고합니다. MCP 내부 잠금 때문에 모든 실제 호출이 완전히 병렬로 실행된다는 뜻은 아닙니다.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agent/nodes/research.py:28, agent/nodes/planning.py, agent/mcp_client.py, mcp_server.py</a:t>
            </a:r>
            <a:endParaRPr lang="ko-KR" sz="135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60초</a:t>
            </a:r>
            <a:endParaRPr lang="ko-KR" sz="1350"/>
          </a:p>
          <a:p>
            <a:pPr>
              <a:lnSpc>
                <a:spcPct val="115000"/>
              </a:lnSpc>
            </a:pPr>
            <a:r>
              <a:rPr lang="ko-KR" sz="1350">
                <a:solidFill>
                  <a:srgbClr val="263248"/>
                </a:solidFill>
                <a:latin typeface="Apple SD Gothic Neo"/>
                <a:ea typeface="Apple SD Gothic Neo"/>
                <a:cs typeface="Apple SD Gothic Neo"/>
              </a:rPr>
              <a:t xml:space="preserve">runbook_search.py의 search_request를 보여줍니다. 질문의 증상과 제외 범위를 표현 규칙으로 나눕니다. CPU·메모리를 각각 임베딩 검색하고 기준을 통과한 문서만 합칩니다. 여기서 TOPICS는 범위 해석과 검색 문장을 보조하는 규칙이며 문서를 강제로 선택하는 폴백이 아닙니다. 질문과 문서를 정규화 벡터로 바꾸고 유사도를 계산합니다. 개별 검색 최대 두 개, 최소 0.43, 최고 점수와 0.08 차이 이내 조건을 사용합니다. 명시한 증상이 빠지면 사실 보고서로 제한하고, TLS처럼 미지원 요청도 다른 런북으로 대체하지 않습니다. 검색한 원문은 AI 초안의 근거 입력으로 전달합니다. 복잡한 포함·제외 표현과 새로운 증상은 추가 평가가 필요합니다.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agent/runbook_search.py:85, 159, 173, 179; agent/nodes/research.py:118</a:t>
            </a:r>
            <a:endParaRPr lang="ko-KR" sz="135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35초</a:t>
            </a:r>
            <a:endParaRPr lang="ko-KR" sz="1350"/>
          </a:p>
          <a:p>
            <a:pPr>
              <a:lnSpc>
                <a:spcPct val="115000"/>
              </a:lnSpc>
            </a:pPr>
            <a:r>
              <a:rPr lang="ko-KR" sz="1350">
                <a:solidFill>
                  <a:srgbClr val="263248"/>
                </a:solidFill>
                <a:latin typeface="Apple SD Gothic Neo"/>
                <a:ea typeface="Apple SD Gothic Neo"/>
                <a:cs typeface="Apple SD Gothic Neo"/>
              </a:rPr>
              <a:t xml:space="preserve">writing.py의 validate_node를 보여줍니다. 초안은 출처와 조치 번호를 가진 JSON이며 시스템·출처·단계·수치 조건과 요청 범위를 코드로 검사합니다. 오류 피드백을 주고 최대 세 번 재작성하며, 실패해도 강제 승인하지 않습니다. reporting.py가 최종 문장을 구성합니다. 76개 자동 테스트와 대표 실모델 실행을 확인했습니다. 전체 정확도나 원인 확정 검증, LLM-as-a-Judge는 아닙니다. 향후에는 복잡한 범위 표현, 대상 확인 후 대화 연결, 동기 모델 호출을 개선하고 싶습니다.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agent/nodes/writing.py:28, agent/evidence.py:80, agent/reporting.py:9</a:t>
            </a:r>
            <a:endParaRPr lang="ko-KR" sz="1350"/>
          </a:p>
          <a:p>
            <a:pPr>
              <a:lnSpc>
                <a:spcPct val="115000"/>
              </a:lnSpc>
            </a:pPr>
            <a:r>
              <a:rPr lang="ko-KR" sz="1350">
                <a:solidFill>
                  <a:srgbClr val="263248"/>
                </a:solidFill>
                <a:latin typeface="Apple SD Gothic Neo"/>
                <a:ea typeface="Apple SD Gothic Neo"/>
                <a:cs typeface="Apple SD Gothic Neo"/>
              </a:rPr>
              <a:t xml:space="preserve">증거: tests/, docs/evaluation/rag_scope_pipeline_20261021.json</a:t>
            </a:r>
            <a:endParaRPr lang="ko-KR" sz="1350"/>
          </a:p>
          <a:p>
            <a:pPr>
              <a:lnSpc>
                <a:spcPct val="115000"/>
              </a:lnSpc>
            </a:pPr>
            <a:r>
              <a:rPr lang="ko-KR" sz="1350">
                <a:solidFill>
                  <a:srgbClr val="263248"/>
                </a:solidFill>
                <a:latin typeface="Apple SD Gothic Neo"/>
                <a:ea typeface="Apple SD Gothic Neo"/>
                <a:cs typeface="Apple SD Gothic Neo"/>
              </a:rPr>
              <a:t xml:space="preserve">느낀 점: 그럴듯한 답변보다 질문 범위·근거 부족·실패를 드러내는 처리가 중요했습니다.</a:t>
            </a:r>
            <a:endParaRPr lang="ko-KR" sz="135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name="운영 인시던트 대응 에이전트 개선">
    <p:spTree>
      <p:nvGrpSpPr>
        <p:cNvPr id="1" name=""/>
        <p:cNvGrpSpPr/>
        <p:nvPr/>
      </p:nvGrpSpPr>
      <p:grpSpPr>
        <a:xfrm>
          <a:off x="0" y="0"/>
          <a:ext cx="0" cy="0"/>
          <a:chOff x="0" y="0"/>
          <a:chExt cx="0" cy="0"/>
        </a:xfrm>
      </p:grpSpPr>
      <p:sp>
        <p:nvSpPr>
          <p:cNvPr id="2" name="Text 2"/>
          <p:cNvSpPr txBox="1"/>
          <p:nvPr/>
        </p:nvSpPr>
        <p:spPr>
          <a:xfrm>
            <a:off x="609600" y="1714500"/>
            <a:ext cx="10858500" cy="1571625"/>
          </a:xfrm>
          <a:prstGeom prst="rect">
            <a:avLst/>
          </a:prstGeom>
          <a:noFill/>
          <a:ln>
            <a:noFill/>
          </a:ln>
        </p:spPr>
        <p:txBody>
          <a:bodyPr wrap="square" lIns="0" rIns="0" tIns="0" bIns="0">
            <a:noAutofit/>
          </a:bodyPr>
          <a:lstStyle/>
          <a:p>
            <a:pPr>
              <a:lnSpc>
                <a:spcPct val="115000"/>
              </a:lnSpc>
            </a:pPr>
            <a:r>
              <a:rPr lang="ko-KR" sz="4800" b="1">
                <a:solidFill>
                  <a:srgbClr val="172B4D"/>
                </a:solidFill>
                <a:latin typeface="Apple SD Gothic Neo"/>
                <a:ea typeface="Apple SD Gothic Neo"/>
                <a:cs typeface="Apple SD Gothic Neo"/>
              </a:rPr>
              <a:t xml:space="preserve">증상별 RAG 검색과</a:t>
            </a:r>
            <a:endParaRPr lang="ko-KR" sz="4800"/>
          </a:p>
          <a:p>
            <a:pPr>
              <a:lnSpc>
                <a:spcPct val="115000"/>
              </a:lnSpc>
            </a:pPr>
            <a:r>
              <a:rPr lang="ko-KR" sz="4800" b="1">
                <a:solidFill>
                  <a:srgbClr val="172B4D"/>
                </a:solidFill>
                <a:latin typeface="Apple SD Gothic Neo"/>
                <a:ea typeface="Apple SD Gothic Neo"/>
                <a:cs typeface="Apple SD Gothic Neo"/>
              </a:rPr>
              <a:t xml:space="preserve">근거를 확인하는 보고서</a:t>
            </a:r>
            <a:endParaRPr lang="ko-KR" sz="4800"/>
          </a:p>
        </p:txBody>
      </p:sp>
      <p:sp>
        <p:nvSpPr>
          <p:cNvPr id="3" name="Text 3"/>
          <p:cNvSpPr txBox="1"/>
          <p:nvPr/>
        </p:nvSpPr>
        <p:spPr>
          <a:xfrm>
            <a:off x="647700" y="3714750"/>
            <a:ext cx="10763250" cy="523875"/>
          </a:xfrm>
          <a:prstGeom prst="rect">
            <a:avLst/>
          </a:prstGeom>
          <a:noFill/>
          <a:ln>
            <a:noFill/>
          </a:ln>
        </p:spPr>
        <p:txBody>
          <a:bodyPr wrap="square" lIns="0" rIns="0" tIns="0" bIns="0">
            <a:noAutofit/>
          </a:bodyPr>
          <a:lstStyle/>
          <a:p>
            <a:pPr>
              <a:lnSpc>
                <a:spcPct val="115000"/>
              </a:lnSpc>
            </a:pPr>
            <a:r>
              <a:rPr lang="ko-KR" sz="2250">
                <a:solidFill>
                  <a:srgbClr val="263248"/>
                </a:solidFill>
                <a:latin typeface="Apple SD Gothic Neo"/>
                <a:ea typeface="Apple SD Gothic Neo"/>
                <a:cs typeface="Apple SD Gothic Neo"/>
              </a:rPr>
              <a:t xml:space="preserve">과제 1  제공된 운영 인시던트 대응 에이전트 개선</a:t>
            </a:r>
            <a:endParaRPr lang="ko-KR" sz="2250"/>
          </a:p>
        </p:txBody>
      </p:sp>
      <p:sp>
        <p:nvSpPr>
          <p:cNvPr id="4" name="Text 4"/>
          <p:cNvSpPr txBox="1"/>
          <p:nvPr/>
        </p:nvSpPr>
        <p:spPr>
          <a:xfrm>
            <a:off x="647700" y="4667250"/>
            <a:ext cx="10668000" cy="42862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기존 기반 활용: FastAPI, Vue, LangGraph, MCP, LangSmith</a:t>
            </a:r>
            <a:endParaRPr lang="ko-KR" sz="1950"/>
          </a:p>
        </p:txBody>
      </p:sp>
      <p:sp>
        <p:nvSpPr>
          <p:cNvPr id="5" name="Text 5"/>
          <p:cNvSpPr txBox="1"/>
          <p:nvPr/>
        </p:nvSpPr>
        <p:spPr>
          <a:xfrm>
            <a:off x="647700" y="5286375"/>
            <a:ext cx="10668000" cy="52387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교육용 모니터링 데이터로 조사하며 실제 조치는 실행하지 않습니다</a:t>
            </a:r>
            <a:endParaRPr lang="ko-KR" sz="1950"/>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01 / 08</a:t>
            </a:r>
            <a:endParaRPr lang="ko-KR" sz="15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name="직접 추가·수정한 기능">
    <p:spTree>
      <p:nvGrpSpPr>
        <p:cNvPr id="1" name=""/>
        <p:cNvGrpSpPr/>
        <p:nvPr/>
      </p:nvGrpSpPr>
      <p:grpSpPr>
        <a:xfrm>
          <a:off x="0" y="0"/>
          <a:ext cx="0" cy="0"/>
          <a:chOff x="0" y="0"/>
          <a:chExt cx="0" cy="0"/>
        </a:xfrm>
      </p:grpSpPr>
      <p:sp>
        <p:nvSpPr>
          <p:cNvPr id="2" name="Text 2"/>
          <p:cNvSpPr txBox="1"/>
          <p:nvPr/>
        </p:nvSpPr>
        <p:spPr>
          <a:xfrm>
            <a:off x="609600" y="1476375"/>
            <a:ext cx="10668000" cy="476250"/>
          </a:xfrm>
          <a:prstGeom prst="rect">
            <a:avLst/>
          </a:prstGeom>
          <a:noFill/>
          <a:ln>
            <a:noFill/>
          </a:ln>
        </p:spPr>
        <p:txBody>
          <a:bodyPr wrap="square" lIns="0" rIns="0" tIns="0" bIns="0">
            <a:noAutofit/>
          </a:bodyPr>
          <a:lstStyle/>
          <a:p>
            <a:pPr>
              <a:lnSpc>
                <a:spcPct val="115000"/>
              </a:lnSpc>
            </a:pPr>
            <a:r>
              <a:rPr lang="ko-KR" sz="2475" b="1">
                <a:solidFill>
                  <a:srgbClr val="172B4D"/>
                </a:solidFill>
                <a:latin typeface="Apple SD Gothic Neo"/>
                <a:ea typeface="Apple SD Gothic Neo"/>
                <a:cs typeface="Apple SD Gothic Neo"/>
              </a:rPr>
              <a:t xml:space="preserve">조사 대상·복수 시스템 처리 보완</a:t>
            </a:r>
            <a:endParaRPr lang="ko-KR" sz="2475"/>
          </a:p>
        </p:txBody>
      </p:sp>
      <p:sp>
        <p:nvSpPr>
          <p:cNvPr id="3" name="Text 3"/>
          <p:cNvSpPr txBox="1"/>
          <p:nvPr/>
        </p:nvSpPr>
        <p:spPr>
          <a:xfrm>
            <a:off x="609600" y="2076450"/>
            <a:ext cx="107632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미등록·미지정 대상 확인, 작업별 실패 기록과 성공 자료 보존</a:t>
            </a:r>
            <a:endParaRPr lang="ko-KR" sz="2025"/>
          </a:p>
        </p:txBody>
      </p:sp>
      <p:sp>
        <p:nvSpPr>
          <p:cNvPr id="4" name="Text 4"/>
          <p:cNvSpPr txBox="1"/>
          <p:nvPr/>
        </p:nvSpPr>
        <p:spPr>
          <a:xfrm>
            <a:off x="609600" y="2762250"/>
            <a:ext cx="10763250" cy="476250"/>
          </a:xfrm>
          <a:prstGeom prst="rect">
            <a:avLst/>
          </a:prstGeom>
          <a:noFill/>
          <a:ln>
            <a:noFill/>
          </a:ln>
        </p:spPr>
        <p:txBody>
          <a:bodyPr wrap="square" lIns="0" rIns="0" tIns="0" bIns="0">
            <a:noAutofit/>
          </a:bodyPr>
          <a:lstStyle/>
          <a:p>
            <a:pPr>
              <a:lnSpc>
                <a:spcPct val="115000"/>
              </a:lnSpc>
            </a:pPr>
            <a:r>
              <a:rPr lang="ko-KR" sz="2475" b="1">
                <a:solidFill>
                  <a:srgbClr val="172B4D"/>
                </a:solidFill>
                <a:latin typeface="Apple SD Gothic Neo"/>
                <a:ea typeface="Apple SD Gothic Neo"/>
                <a:cs typeface="Apple SD Gothic Neo"/>
              </a:rPr>
              <a:t xml:space="preserve">런북 검색·답변 검증·보고서 화면 개선</a:t>
            </a:r>
            <a:endParaRPr lang="ko-KR" sz="2475"/>
          </a:p>
        </p:txBody>
      </p:sp>
      <p:sp>
        <p:nvSpPr>
          <p:cNvPr id="5" name="Text 5"/>
          <p:cNvSpPr txBox="1"/>
          <p:nvPr/>
        </p:nvSpPr>
        <p:spPr>
          <a:xfrm>
            <a:off x="609600" y="3362325"/>
            <a:ext cx="10858500" cy="5238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증상별 RAG, 제외 조건, 조치 조건 검사와 재작성, 요약·상세 분리</a:t>
            </a:r>
            <a:endParaRPr lang="ko-KR" sz="2025"/>
          </a:p>
        </p:txBody>
      </p:sp>
      <p:pic>
        <p:nvPicPr>
          <p:cNvPr id="6" name="Evidence 6" descr="실제 실행 화면 일부 확대"/>
          <p:cNvPicPr>
            <a:picLocks noChangeAspect="1"/>
          </p:cNvPicPr>
          <p:nvPr/>
        </p:nvPicPr>
        <p:blipFill>
          <a:blip r:embed="rId3"/>
          <a:stretch>
            <a:fillRect/>
          </a:stretch>
        </p:blipFill>
        <p:spPr>
          <a:xfrm>
            <a:off x="609600" y="4362450"/>
            <a:ext cx="10763250" cy="1828800"/>
          </a:xfrm>
          <a:prstGeom prst="rect">
            <a:avLst/>
          </a:prstGeom>
        </p:spPr>
      </p:pic>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02 / 08</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직접 추가·수정한 기능</a:t>
            </a:r>
            <a:endParaRPr lang="ko-KR" sz="33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name="CPU·메모리 복합 질문 결과">
    <p:spTree>
      <p:nvGrpSpPr>
        <p:cNvPr id="1" name=""/>
        <p:cNvGrpSpPr/>
        <p:nvPr/>
      </p:nvGrpSpPr>
      <p:grpSpPr>
        <a:xfrm>
          <a:off x="0" y="0"/>
          <a:ext cx="0" cy="0"/>
          <a:chOff x="0" y="0"/>
          <a:chExt cx="0" cy="0"/>
        </a:xfrm>
      </p:grpSpPr>
      <p:sp>
        <p:nvSpPr>
          <p:cNvPr id="2" name="Text 2"/>
          <p:cNvSpPr txBox="1"/>
          <p:nvPr/>
        </p:nvSpPr>
        <p:spPr>
          <a:xfrm>
            <a:off x="609600" y="1619250"/>
            <a:ext cx="3143250" cy="428625"/>
          </a:xfrm>
          <a:prstGeom prst="rect">
            <a:avLst/>
          </a:prstGeom>
          <a:noFill/>
          <a:ln>
            <a:noFill/>
          </a:ln>
        </p:spPr>
        <p:txBody>
          <a:bodyPr wrap="square" lIns="0" rIns="0" tIns="0" bIns="0">
            <a:noAutofit/>
          </a:bodyPr>
          <a:lstStyle/>
          <a:p>
            <a:pPr>
              <a:lnSpc>
                <a:spcPct val="115000"/>
              </a:lnSpc>
            </a:pPr>
            <a:r>
              <a:rPr lang="ko-KR" sz="2250" b="1">
                <a:solidFill>
                  <a:srgbClr val="172B4D"/>
                </a:solidFill>
                <a:latin typeface="Apple SD Gothic Neo"/>
                <a:ea typeface="Apple SD Gothic Neo"/>
                <a:cs typeface="Apple SD Gothic Neo"/>
              </a:rPr>
              <a:t xml:space="preserve">선택한 런북</a:t>
            </a:r>
            <a:endParaRPr lang="ko-KR" sz="2250"/>
          </a:p>
        </p:txBody>
      </p:sp>
      <p:sp>
        <p:nvSpPr>
          <p:cNvPr id="3" name="Text 3"/>
          <p:cNvSpPr txBox="1"/>
          <p:nvPr/>
        </p:nvSpPr>
        <p:spPr>
          <a:xfrm>
            <a:off x="609600" y="2190750"/>
            <a:ext cx="3143250" cy="952500"/>
          </a:xfrm>
          <a:prstGeom prst="rect">
            <a:avLst/>
          </a:prstGeom>
          <a:noFill/>
          <a:ln>
            <a:noFill/>
          </a:ln>
        </p:spPr>
        <p:txBody>
          <a:bodyPr wrap="square" lIns="0" rIns="0" tIns="0" bIns="0">
            <a:noAutofit/>
          </a:bodyPr>
          <a:lstStyle/>
          <a:p>
            <a:pPr>
              <a:lnSpc>
                <a:spcPct val="115000"/>
              </a:lnSpc>
            </a:pPr>
            <a:r>
              <a:rPr lang="ko-KR" sz="2325" b="1">
                <a:solidFill>
                  <a:srgbClr val="365DCB"/>
                </a:solidFill>
                <a:latin typeface="Apple SD Gothic Neo"/>
                <a:ea typeface="Apple SD Gothic Neo"/>
                <a:cs typeface="Apple SD Gothic Neo"/>
              </a:rPr>
              <a:t xml:space="preserve">cpu-spike</a:t>
            </a:r>
            <a:endParaRPr lang="ko-KR" sz="2325"/>
          </a:p>
          <a:p>
            <a:pPr>
              <a:lnSpc>
                <a:spcPct val="115000"/>
              </a:lnSpc>
            </a:pPr>
            <a:r>
              <a:rPr lang="ko-KR" sz="2325" b="1">
                <a:solidFill>
                  <a:srgbClr val="365DCB"/>
                </a:solidFill>
                <a:latin typeface="Apple SD Gothic Neo"/>
                <a:ea typeface="Apple SD Gothic Neo"/>
                <a:cs typeface="Apple SD Gothic Neo"/>
              </a:rPr>
              <a:t xml:space="preserve">memory-leak</a:t>
            </a:r>
            <a:endParaRPr lang="ko-KR" sz="2325"/>
          </a:p>
        </p:txBody>
      </p:sp>
      <p:sp>
        <p:nvSpPr>
          <p:cNvPr id="4" name="Text 4"/>
          <p:cNvSpPr txBox="1"/>
          <p:nvPr/>
        </p:nvSpPr>
        <p:spPr>
          <a:xfrm>
            <a:off x="609600" y="3733800"/>
            <a:ext cx="3143250" cy="1428750"/>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현재 메모리 54.5%</a:t>
            </a:r>
            <a:endParaRPr lang="ko-KR" sz="2100"/>
          </a:p>
          <a:p>
            <a:pPr>
              <a:lnSpc>
                <a:spcPct val="115000"/>
              </a:lnSpc>
            </a:pPr>
            <a:r>
              <a:rPr lang="ko-KR" sz="2100">
                <a:solidFill>
                  <a:srgbClr val="263248"/>
                </a:solidFill>
                <a:latin typeface="Apple SD Gothic Neo"/>
                <a:ea typeface="Apple SD Gothic Neo"/>
                <a:cs typeface="Apple SD Gothic Neo"/>
              </a:rPr>
              <a:t xml:space="preserve">90% 조치 조건 미충족</a:t>
            </a:r>
            <a:endParaRPr lang="ko-KR" sz="2100"/>
          </a:p>
          <a:p>
            <a:pPr>
              <a:lnSpc>
                <a:spcPct val="115000"/>
              </a:lnSpc>
            </a:pPr>
            <a:r>
              <a:rPr lang="ko-KR" sz="2100">
                <a:solidFill>
                  <a:srgbClr val="263248"/>
                </a:solidFill>
                <a:latin typeface="Apple SD Gothic Neo"/>
                <a:ea typeface="Apple SD Gothic Neo"/>
                <a:cs typeface="Apple SD Gothic Neo"/>
              </a:rPr>
              <a:t xml:space="preserve">재시작 권고 보류</a:t>
            </a:r>
            <a:endParaRPr lang="ko-KR" sz="2100"/>
          </a:p>
        </p:txBody>
      </p:sp>
      <p:sp>
        <p:nvSpPr>
          <p:cNvPr id="5" name="Text 5"/>
          <p:cNvSpPr txBox="1"/>
          <p:nvPr/>
        </p:nvSpPr>
        <p:spPr>
          <a:xfrm>
            <a:off x="609600" y="5657850"/>
            <a:ext cx="3143250" cy="666750"/>
          </a:xfrm>
          <a:prstGeom prst="rect">
            <a:avLst/>
          </a:prstGeom>
          <a:noFill/>
          <a:ln>
            <a:noFill/>
          </a:ln>
        </p:spPr>
        <p:txBody>
          <a:bodyPr wrap="square" lIns="0" rIns="0" tIns="0" bIns="0">
            <a:noAutofit/>
          </a:bodyPr>
          <a:lstStyle/>
          <a:p>
            <a:pPr>
              <a:lnSpc>
                <a:spcPct val="115000"/>
              </a:lnSpc>
            </a:pPr>
            <a:r>
              <a:rPr lang="ko-KR" sz="1725">
                <a:solidFill>
                  <a:srgbClr val="53657C"/>
                </a:solidFill>
                <a:latin typeface="Apple SD Gothic Neo"/>
                <a:ea typeface="Apple SD Gothic Neo"/>
                <a:cs typeface="Apple SD Gothic Neo"/>
              </a:rPr>
              <a:t xml:space="preserve">원인 확정과 실행 승인은</a:t>
            </a:r>
            <a:endParaRPr lang="ko-KR" sz="1725"/>
          </a:p>
          <a:p>
            <a:pPr>
              <a:lnSpc>
                <a:spcPct val="115000"/>
              </a:lnSpc>
            </a:pPr>
            <a:r>
              <a:rPr lang="ko-KR" sz="1725">
                <a:solidFill>
                  <a:srgbClr val="53657C"/>
                </a:solidFill>
                <a:latin typeface="Apple SD Gothic Neo"/>
                <a:ea typeface="Apple SD Gothic Neo"/>
                <a:cs typeface="Apple SD Gothic Neo"/>
              </a:rPr>
              <a:t xml:space="preserve">별도 판단이 필요합니다</a:t>
            </a:r>
            <a:endParaRPr lang="ko-KR" sz="1725"/>
          </a:p>
        </p:txBody>
      </p:sp>
      <p:pic>
        <p:nvPicPr>
          <p:cNvPr id="6" name="Evidence 6" descr="실제 실행 화면 일부 확대"/>
          <p:cNvPicPr>
            <a:picLocks noChangeAspect="1"/>
          </p:cNvPicPr>
          <p:nvPr/>
        </p:nvPicPr>
        <p:blipFill>
          <a:blip r:embed="rId3"/>
          <a:stretch>
            <a:fillRect/>
          </a:stretch>
        </p:blipFill>
        <p:spPr>
          <a:xfrm>
            <a:off x="4029075" y="1571625"/>
            <a:ext cx="7553325" cy="4810125"/>
          </a:xfrm>
          <a:prstGeom prst="rect">
            <a:avLst/>
          </a:prstGeom>
        </p:spPr>
      </p:pic>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03 / 08</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CPU·메모리 복합 질문 결과</a:t>
            </a:r>
            <a:endParaRPr lang="ko-KR" sz="33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name="TLS 질문의 조사 한계 안내">
    <p:spTree>
      <p:nvGrpSpPr>
        <p:cNvPr id="1" name=""/>
        <p:cNvGrpSpPr/>
        <p:nvPr/>
      </p:nvGrpSpPr>
      <p:grpSpPr>
        <a:xfrm>
          <a:off x="0" y="0"/>
          <a:ext cx="0" cy="0"/>
          <a:chOff x="0" y="0"/>
          <a:chExt cx="0" cy="0"/>
        </a:xfrm>
      </p:grpSpPr>
      <p:sp>
        <p:nvSpPr>
          <p:cNvPr id="2" name="Text 2"/>
          <p:cNvSpPr txBox="1"/>
          <p:nvPr/>
        </p:nvSpPr>
        <p:spPr>
          <a:xfrm>
            <a:off x="609600" y="1666875"/>
            <a:ext cx="3333750" cy="1143000"/>
          </a:xfrm>
          <a:prstGeom prst="rect">
            <a:avLst/>
          </a:prstGeom>
          <a:noFill/>
          <a:ln>
            <a:noFill/>
          </a:ln>
        </p:spPr>
        <p:txBody>
          <a:bodyPr wrap="square" lIns="0" rIns="0" tIns="0" bIns="0">
            <a:noAutofit/>
          </a:bodyPr>
          <a:lstStyle/>
          <a:p>
            <a:pPr>
              <a:lnSpc>
                <a:spcPct val="115000"/>
              </a:lnSpc>
            </a:pPr>
            <a:r>
              <a:rPr lang="ko-KR" sz="2550" b="1">
                <a:solidFill>
                  <a:srgbClr val="172B4D"/>
                </a:solidFill>
                <a:latin typeface="Apple SD Gothic Neo"/>
                <a:ea typeface="Apple SD Gothic Neo"/>
                <a:cs typeface="Apple SD Gothic Neo"/>
              </a:rPr>
              <a:t xml:space="preserve">현재 도구로</a:t>
            </a:r>
            <a:endParaRPr lang="ko-KR" sz="2550"/>
          </a:p>
          <a:p>
            <a:pPr>
              <a:lnSpc>
                <a:spcPct val="115000"/>
              </a:lnSpc>
            </a:pPr>
            <a:r>
              <a:rPr lang="ko-KR" sz="2550" b="1">
                <a:solidFill>
                  <a:srgbClr val="172B4D"/>
                </a:solidFill>
                <a:latin typeface="Apple SD Gothic Neo"/>
                <a:ea typeface="Apple SD Gothic Neo"/>
                <a:cs typeface="Apple SD Gothic Neo"/>
              </a:rPr>
              <a:t xml:space="preserve">인증서 만료 확인 불가</a:t>
            </a:r>
            <a:endParaRPr lang="ko-KR" sz="2550"/>
          </a:p>
        </p:txBody>
      </p:sp>
      <p:sp>
        <p:nvSpPr>
          <p:cNvPr id="3" name="Text 3"/>
          <p:cNvSpPr txBox="1"/>
          <p:nvPr/>
        </p:nvSpPr>
        <p:spPr>
          <a:xfrm>
            <a:off x="609600" y="3381375"/>
            <a:ext cx="3333750" cy="1381125"/>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관련 매뉴얼 없음</a:t>
            </a:r>
            <a:endParaRPr lang="ko-KR" sz="2100"/>
          </a:p>
          <a:p>
            <a:pPr>
              <a:lnSpc>
                <a:spcPct val="115000"/>
              </a:lnSpc>
            </a:pPr>
            <a:r>
              <a:rPr lang="ko-KR" sz="2100">
                <a:solidFill>
                  <a:srgbClr val="263248"/>
                </a:solidFill>
                <a:latin typeface="Apple SD Gothic Neo"/>
                <a:ea typeface="Apple SD Gothic Neo"/>
                <a:cs typeface="Apple SD Gothic Neo"/>
              </a:rPr>
              <a:t xml:space="preserve">제외한 대응 추천 안 함</a:t>
            </a:r>
            <a:endParaRPr lang="ko-KR" sz="2100"/>
          </a:p>
          <a:p>
            <a:pPr>
              <a:lnSpc>
                <a:spcPct val="115000"/>
              </a:lnSpc>
            </a:pPr>
            <a:r>
              <a:rPr lang="ko-KR" sz="2100">
                <a:solidFill>
                  <a:srgbClr val="263248"/>
                </a:solidFill>
                <a:latin typeface="Apple SD Gothic Neo"/>
                <a:ea typeface="Apple SD Gothic Neo"/>
                <a:cs typeface="Apple SD Gothic Neo"/>
              </a:rPr>
              <a:t xml:space="preserve">원인·조치 생성 생략</a:t>
            </a:r>
            <a:endParaRPr lang="ko-KR" sz="2100"/>
          </a:p>
        </p:txBody>
      </p:sp>
      <p:sp>
        <p:nvSpPr>
          <p:cNvPr id="4" name="Text 4"/>
          <p:cNvSpPr txBox="1"/>
          <p:nvPr/>
        </p:nvSpPr>
        <p:spPr>
          <a:xfrm>
            <a:off x="609600" y="5381625"/>
            <a:ext cx="3333750" cy="762000"/>
          </a:xfrm>
          <a:prstGeom prst="rect">
            <a:avLst/>
          </a:prstGeom>
          <a:noFill/>
          <a:ln>
            <a:noFill/>
          </a:ln>
        </p:spPr>
        <p:txBody>
          <a:bodyPr wrap="square" lIns="0" rIns="0" tIns="0" bIns="0">
            <a:noAutofit/>
          </a:bodyPr>
          <a:lstStyle/>
          <a:p>
            <a:pPr>
              <a:lnSpc>
                <a:spcPct val="115000"/>
              </a:lnSpc>
            </a:pPr>
            <a:r>
              <a:rPr lang="ko-KR" sz="1875">
                <a:solidFill>
                  <a:srgbClr val="53657C"/>
                </a:solidFill>
                <a:latin typeface="Apple SD Gothic Neo"/>
                <a:ea typeface="Apple SD Gothic Neo"/>
                <a:cs typeface="Apple SD Gothic Neo"/>
              </a:rPr>
              <a:t xml:space="preserve">확인 가능한 사실과</a:t>
            </a:r>
            <a:endParaRPr lang="ko-KR" sz="1875"/>
          </a:p>
          <a:p>
            <a:pPr>
              <a:lnSpc>
                <a:spcPct val="115000"/>
              </a:lnSpc>
            </a:pPr>
            <a:r>
              <a:rPr lang="ko-KR" sz="1875">
                <a:solidFill>
                  <a:srgbClr val="53657C"/>
                </a:solidFill>
                <a:latin typeface="Apple SD Gothic Neo"/>
                <a:ea typeface="Apple SD Gothic Neo"/>
                <a:cs typeface="Apple SD Gothic Neo"/>
              </a:rPr>
              <a:t xml:space="preserve">조사 한계를 함께 표시</a:t>
            </a:r>
            <a:endParaRPr lang="ko-KR" sz="1875"/>
          </a:p>
        </p:txBody>
      </p:sp>
      <p:pic>
        <p:nvPicPr>
          <p:cNvPr id="5" name="Evidence 5" descr="실제 실행 화면 일부 확대"/>
          <p:cNvPicPr>
            <a:picLocks noChangeAspect="1"/>
          </p:cNvPicPr>
          <p:nvPr/>
        </p:nvPicPr>
        <p:blipFill>
          <a:blip r:embed="rId3"/>
          <a:stretch>
            <a:fillRect/>
          </a:stretch>
        </p:blipFill>
        <p:spPr>
          <a:xfrm>
            <a:off x="4067175" y="2076450"/>
            <a:ext cx="7515225" cy="3114675"/>
          </a:xfrm>
          <a:prstGeom prst="rect">
            <a:avLst/>
          </a:prstGeom>
        </p:spPr>
      </p:pic>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04 / 08</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TLS 질문의 조사 한계 안내</a:t>
            </a:r>
            <a:endParaRPr lang="ko-KR" sz="33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name="Agent Graph와 공통 데이터">
    <p:spTree>
      <p:nvGrpSpPr>
        <p:cNvPr id="1" name=""/>
        <p:cNvGrpSpPr/>
        <p:nvPr/>
      </p:nvGrpSpPr>
      <p:grpSpPr>
        <a:xfrm>
          <a:off x="0" y="0"/>
          <a:ext cx="0" cy="0"/>
          <a:chOff x="0" y="0"/>
          <a:chExt cx="0" cy="0"/>
        </a:xfrm>
      </p:grpSpPr>
      <p:sp>
        <p:nvSpPr>
          <p:cNvPr id="2" name="Text 2"/>
          <p:cNvSpPr txBox="1"/>
          <p:nvPr/>
        </p:nvSpPr>
        <p:spPr>
          <a:xfrm>
            <a:off x="609600" y="1428750"/>
            <a:ext cx="10477500" cy="428625"/>
          </a:xfrm>
          <a:prstGeom prst="rect">
            <a:avLst/>
          </a:prstGeom>
          <a:noFill/>
          <a:ln>
            <a:noFill/>
          </a:ln>
        </p:spPr>
        <p:txBody>
          <a:bodyPr wrap="square" lIns="0" rIns="0" tIns="0" bIns="0">
            <a:noAutofit/>
          </a:bodyPr>
          <a:lstStyle/>
          <a:p>
            <a:pPr>
              <a:lnSpc>
                <a:spcPct val="115000"/>
              </a:lnSpc>
            </a:pPr>
            <a:r>
              <a:rPr lang="ko-KR" sz="2175" b="1">
                <a:solidFill>
                  <a:srgbClr val="365DCB"/>
                </a:solidFill>
                <a:latin typeface="Apple SD Gothic Neo"/>
                <a:ea typeface="Apple SD Gothic Neo"/>
                <a:cs typeface="Apple SD Gothic Neo"/>
              </a:rPr>
              <a:t xml:space="preserve">graph.py  /  build_graph()</a:t>
            </a:r>
            <a:endParaRPr lang="ko-KR" sz="2175"/>
          </a:p>
        </p:txBody>
      </p:sp>
      <p:sp>
        <p:nvSpPr>
          <p:cNvPr id="3" name="Text 3"/>
          <p:cNvSpPr txBox="1"/>
          <p:nvPr/>
        </p:nvSpPr>
        <p:spPr>
          <a:xfrm>
            <a:off x="609600" y="2124075"/>
            <a:ext cx="10953750" cy="2238375"/>
          </a:xfrm>
          <a:prstGeom prst="rect">
            <a:avLst/>
          </a:prstGeom>
          <a:noFill/>
          <a:ln>
            <a:noFill/>
          </a:ln>
        </p:spPr>
        <p:txBody>
          <a:bodyPr wrap="square" lIns="0" rIns="0" tIns="0" bIns="0">
            <a:noAutofit/>
          </a:bodyPr>
          <a:lstStyle/>
          <a:p>
            <a:pPr>
              <a:lnSpc>
                <a:spcPct val="115000"/>
              </a:lnSpc>
            </a:pPr>
            <a:r>
              <a:rPr lang="ko-KR" sz="2250">
                <a:solidFill>
                  <a:srgbClr val="172B4D"/>
                </a:solidFill>
                <a:latin typeface="Menlo"/>
                <a:ea typeface="Menlo"/>
                <a:cs typeface="Menlo"/>
              </a:rPr>
              <a:t xml:space="preserve">g.add_edge("plan", "gate")</a:t>
            </a:r>
            <a:endParaRPr lang="ko-KR" sz="2250"/>
          </a:p>
          <a:p>
            <a:pPr>
              <a:lnSpc>
                <a:spcPct val="115000"/>
              </a:lnSpc>
            </a:pPr>
            <a:r>
              <a:rPr lang="ko-KR" sz="2250">
                <a:solidFill>
                  <a:srgbClr val="172B4D"/>
                </a:solidFill>
                <a:latin typeface="Menlo"/>
                <a:ea typeface="Menlo"/>
                <a:cs typeface="Menlo"/>
              </a:rPr>
              <a:t xml:space="preserve">g.add_edge("gate", "research")</a:t>
            </a:r>
            <a:endParaRPr lang="ko-KR" sz="2250"/>
          </a:p>
          <a:p>
            <a:pPr>
              <a:lnSpc>
                <a:spcPct val="115000"/>
              </a:lnSpc>
            </a:pPr>
            <a:r>
              <a:rPr lang="ko-KR" sz="2250">
                <a:solidFill>
                  <a:srgbClr val="172B4D"/>
                </a:solidFill>
                <a:latin typeface="Menlo"/>
                <a:ea typeface="Menlo"/>
                <a:cs typeface="Menlo"/>
              </a:rPr>
              <a:t xml:space="preserve">g.add_edge("research", "replan_check")</a:t>
            </a:r>
            <a:endParaRPr lang="ko-KR" sz="2250"/>
          </a:p>
          <a:p>
            <a:pPr>
              <a:lnSpc>
                <a:spcPct val="115000"/>
              </a:lnSpc>
            </a:pPr>
            <a:r>
              <a:rPr lang="ko-KR" sz="2250">
                <a:solidFill>
                  <a:srgbClr val="172B4D"/>
                </a:solidFill>
                <a:latin typeface="Menlo"/>
                <a:ea typeface="Menlo"/>
                <a:cs typeface="Menlo"/>
              </a:rPr>
              <a:t xml:space="preserve">g.add_edge("analysis", "write")</a:t>
            </a:r>
            <a:endParaRPr lang="ko-KR" sz="2250"/>
          </a:p>
          <a:p>
            <a:pPr>
              <a:lnSpc>
                <a:spcPct val="115000"/>
              </a:lnSpc>
            </a:pPr>
            <a:r>
              <a:rPr lang="ko-KR" sz="2250">
                <a:solidFill>
                  <a:srgbClr val="172B4D"/>
                </a:solidFill>
                <a:latin typeface="Menlo"/>
                <a:ea typeface="Menlo"/>
                <a:cs typeface="Menlo"/>
              </a:rPr>
              <a:t xml:space="preserve">g.add_edge("write", "validate")</a:t>
            </a:r>
            <a:endParaRPr lang="ko-KR" sz="2250"/>
          </a:p>
        </p:txBody>
      </p:sp>
      <p:sp>
        <p:nvSpPr>
          <p:cNvPr id="4" name="Text 4"/>
          <p:cNvSpPr txBox="1"/>
          <p:nvPr/>
        </p:nvSpPr>
        <p:spPr>
          <a:xfrm>
            <a:off x="609600" y="4905375"/>
            <a:ext cx="5429250" cy="10953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state  이번 질문의 기록장</a:t>
            </a:r>
            <a:endParaRPr lang="ko-KR" sz="2025"/>
          </a:p>
          <a:p>
            <a:pPr>
              <a:lnSpc>
                <a:spcPct val="115000"/>
              </a:lnSpc>
            </a:pPr>
            <a:r>
              <a:rPr lang="ko-KR" sz="2025">
                <a:solidFill>
                  <a:srgbClr val="263248"/>
                </a:solidFill>
                <a:latin typeface="Apple SD Gothic Neo"/>
                <a:ea typeface="Apple SD Gothic Neo"/>
                <a:cs typeface="Apple SD Gothic Neo"/>
              </a:rPr>
              <a:t xml:space="preserve">질문, 대상, 작업, 수집 자료, 검증 결과</a:t>
            </a:r>
            <a:endParaRPr lang="ko-KR" sz="2025"/>
          </a:p>
        </p:txBody>
      </p:sp>
      <p:sp>
        <p:nvSpPr>
          <p:cNvPr id="5" name="Text 5"/>
          <p:cNvSpPr txBox="1"/>
          <p:nvPr/>
        </p:nvSpPr>
        <p:spPr>
          <a:xfrm>
            <a:off x="6400800" y="4905375"/>
            <a:ext cx="5143500" cy="10953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deps  함께 사용하는 도구</a:t>
            </a:r>
            <a:endParaRPr lang="ko-KR" sz="2025"/>
          </a:p>
          <a:p>
            <a:pPr>
              <a:lnSpc>
                <a:spcPct val="115000"/>
              </a:lnSpc>
            </a:pPr>
            <a:r>
              <a:rPr lang="ko-KR" sz="2025">
                <a:solidFill>
                  <a:srgbClr val="263248"/>
                </a:solidFill>
                <a:latin typeface="Apple SD Gothic Neo"/>
                <a:ea typeface="Apple SD Gothic Neo"/>
                <a:cs typeface="Apple SD Gothic Neo"/>
              </a:rPr>
              <a:t xml:space="preserve">모델, MCP 연결, 검색기, 저장소</a:t>
            </a:r>
            <a:endParaRPr lang="ko-KR" sz="2025"/>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05 / 08</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Agent Graph와 공통 데이터</a:t>
            </a:r>
            <a:endParaRPr lang="ko-KR" sz="33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name="MCP 조회와 부분 실패 처리">
    <p:spTree>
      <p:nvGrpSpPr>
        <p:cNvPr id="1" name=""/>
        <p:cNvGrpSpPr/>
        <p:nvPr/>
      </p:nvGrpSpPr>
      <p:grpSpPr>
        <a:xfrm>
          <a:off x="0" y="0"/>
          <a:ext cx="0" cy="0"/>
          <a:chOff x="0" y="0"/>
          <a:chExt cx="0" cy="0"/>
        </a:xfrm>
      </p:grpSpPr>
      <p:sp>
        <p:nvSpPr>
          <p:cNvPr id="2" name="Text 2"/>
          <p:cNvSpPr txBox="1"/>
          <p:nvPr/>
        </p:nvSpPr>
        <p:spPr>
          <a:xfrm>
            <a:off x="609600" y="1428750"/>
            <a:ext cx="10668000" cy="428625"/>
          </a:xfrm>
          <a:prstGeom prst="rect">
            <a:avLst/>
          </a:prstGeom>
          <a:noFill/>
          <a:ln>
            <a:noFill/>
          </a:ln>
        </p:spPr>
        <p:txBody>
          <a:bodyPr wrap="square" lIns="0" rIns="0" tIns="0" bIns="0">
            <a:noAutofit/>
          </a:bodyPr>
          <a:lstStyle/>
          <a:p>
            <a:pPr>
              <a:lnSpc>
                <a:spcPct val="115000"/>
              </a:lnSpc>
            </a:pPr>
            <a:r>
              <a:rPr lang="ko-KR" sz="2175" b="1">
                <a:solidFill>
                  <a:srgbClr val="365DCB"/>
                </a:solidFill>
                <a:latin typeface="Apple SD Gothic Neo"/>
                <a:ea typeface="Apple SD Gothic Neo"/>
                <a:cs typeface="Apple SD Gothic Neo"/>
              </a:rPr>
              <a:t xml:space="preserve">agent/nodes/research.py</a:t>
            </a:r>
            <a:endParaRPr lang="ko-KR" sz="2175"/>
          </a:p>
        </p:txBody>
      </p:sp>
      <p:sp>
        <p:nvSpPr>
          <p:cNvPr id="3" name="Text 3"/>
          <p:cNvSpPr txBox="1"/>
          <p:nvPr/>
        </p:nvSpPr>
        <p:spPr>
          <a:xfrm>
            <a:off x="609600" y="2143125"/>
            <a:ext cx="10953750" cy="2809875"/>
          </a:xfrm>
          <a:prstGeom prst="rect">
            <a:avLst/>
          </a:prstGeom>
          <a:noFill/>
          <a:ln>
            <a:noFill/>
          </a:ln>
        </p:spPr>
        <p:txBody>
          <a:bodyPr wrap="square" lIns="0" rIns="0" tIns="0" bIns="0">
            <a:noAutofit/>
          </a:bodyPr>
          <a:lstStyle/>
          <a:p>
            <a:pPr>
              <a:lnSpc>
                <a:spcPct val="115000"/>
              </a:lnSpc>
            </a:pPr>
            <a:r>
              <a:rPr lang="ko-KR" sz="2100">
                <a:solidFill>
                  <a:srgbClr val="172B4D"/>
                </a:solidFill>
                <a:latin typeface="Menlo"/>
                <a:ea typeface="Menlo"/>
                <a:cs typeface="Menlo"/>
              </a:rPr>
              <a:t xml:space="preserve">await deps.mcp.call_tool(</a:t>
            </a:r>
            <a:endParaRPr lang="ko-KR" sz="2100"/>
          </a:p>
          <a:p>
            <a:pPr>
              <a:lnSpc>
                <a:spcPct val="115000"/>
              </a:lnSpc>
            </a:pPr>
            <a:r>
              <a:rPr lang="ko-KR" sz="2100">
                <a:solidFill>
                  <a:srgbClr val="172B4D"/>
                </a:solidFill>
                <a:latin typeface="Menlo"/>
                <a:ea typeface="Menlo"/>
                <a:cs typeface="Menlo"/>
              </a:rPr>
              <a:t xml:space="preserve">    "get_monitoring_status",</a:t>
            </a:r>
            <a:endParaRPr lang="ko-KR" sz="2100"/>
          </a:p>
          <a:p>
            <a:pPr>
              <a:lnSpc>
                <a:spcPct val="115000"/>
              </a:lnSpc>
            </a:pPr>
            <a:r>
              <a:rPr lang="ko-KR" sz="2100">
                <a:solidFill>
                  <a:srgbClr val="172B4D"/>
                </a:solidFill>
                <a:latin typeface="Menlo"/>
                <a:ea typeface="Menlo"/>
                <a:cs typeface="Menlo"/>
              </a:rPr>
              <a:t xml:space="preserve">    {"system_name": task["target"]})</a:t>
            </a:r>
            <a:endParaRPr lang="ko-KR" sz="2100"/>
          </a:p>
          <a:p>
            <a:pPr>
              <a:lnSpc>
                <a:spcPct val="115000"/>
              </a:lnSpc>
            </a:pPr>
            <a:r>
              <a:rPr lang="ko-KR" sz="2100">
                <a:solidFill>
                  <a:srgbClr val="172B4D"/>
                </a:solidFill>
                <a:latin typeface="Menlo"/>
                <a:ea typeface="Menlo"/>
                <a:cs typeface="Menlo"/>
              </a:rPr>
              <a:t xml:space="preserve"/>
            </a:r>
            <a:endParaRPr lang="ko-KR" sz="2100"/>
          </a:p>
          <a:p>
            <a:pPr>
              <a:lnSpc>
                <a:spcPct val="115000"/>
              </a:lnSpc>
            </a:pPr>
            <a:r>
              <a:rPr lang="ko-KR" sz="2100">
                <a:solidFill>
                  <a:srgbClr val="172B4D"/>
                </a:solidFill>
                <a:latin typeface="Menlo"/>
                <a:ea typeface="Menlo"/>
                <a:cs typeface="Menlo"/>
              </a:rPr>
              <a:t xml:space="preserve">results = await asyncio.gather(</a:t>
            </a:r>
            <a:endParaRPr lang="ko-KR" sz="2100"/>
          </a:p>
          <a:p>
            <a:pPr>
              <a:lnSpc>
                <a:spcPct val="115000"/>
              </a:lnSpc>
            </a:pPr>
            <a:r>
              <a:rPr lang="ko-KR" sz="2100">
                <a:solidFill>
                  <a:srgbClr val="172B4D"/>
                </a:solidFill>
                <a:latin typeface="Menlo"/>
                <a:ea typeface="Menlo"/>
                <a:cs typeface="Menlo"/>
              </a:rPr>
              <a:t xml:space="preserve">    *(run_one(i) for i in research_indices),</a:t>
            </a:r>
            <a:endParaRPr lang="ko-KR" sz="2100"/>
          </a:p>
          <a:p>
            <a:pPr>
              <a:lnSpc>
                <a:spcPct val="115000"/>
              </a:lnSpc>
            </a:pPr>
            <a:r>
              <a:rPr lang="ko-KR" sz="2100">
                <a:solidFill>
                  <a:srgbClr val="172B4D"/>
                </a:solidFill>
                <a:latin typeface="Menlo"/>
                <a:ea typeface="Menlo"/>
                <a:cs typeface="Menlo"/>
              </a:rPr>
              <a:t xml:space="preserve">    return_exceptions=True)</a:t>
            </a:r>
            <a:endParaRPr lang="ko-KR" sz="2100"/>
          </a:p>
        </p:txBody>
      </p:sp>
      <p:sp>
        <p:nvSpPr>
          <p:cNvPr id="4" name="Text 4"/>
          <p:cNvSpPr txBox="1"/>
          <p:nvPr/>
        </p:nvSpPr>
        <p:spPr>
          <a:xfrm>
            <a:off x="609600" y="5286375"/>
            <a:ext cx="109537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Tool: 상태 조회   Resource: 런북 원문   Prompt: 조사 절차</a:t>
            </a:r>
            <a:endParaRPr lang="ko-KR" sz="2025"/>
          </a:p>
        </p:txBody>
      </p:sp>
      <p:sp>
        <p:nvSpPr>
          <p:cNvPr id="5" name="Text 5"/>
          <p:cNvSpPr txBox="1"/>
          <p:nvPr/>
        </p:nvSpPr>
        <p:spPr>
          <a:xfrm>
            <a:off x="609600" y="5905500"/>
            <a:ext cx="10953750" cy="42862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일부 조회 실패 시 성공 자료 보존, 실패 대상과 진단 한계 표시</a:t>
            </a:r>
            <a:endParaRPr lang="ko-KR" sz="1950"/>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06 / 08</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MCP 조회와 부분 실패 처리</a:t>
            </a:r>
            <a:endParaRPr lang="ko-KR" sz="33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name="증상별 RAG 검색과 범위 제한">
    <p:spTree>
      <p:nvGrpSpPr>
        <p:cNvPr id="1" name=""/>
        <p:cNvGrpSpPr/>
        <p:nvPr/>
      </p:nvGrpSpPr>
      <p:grpSpPr>
        <a:xfrm>
          <a:off x="0" y="0"/>
          <a:ext cx="0" cy="0"/>
          <a:chOff x="0" y="0"/>
          <a:chExt cx="0" cy="0"/>
        </a:xfrm>
      </p:grpSpPr>
      <p:sp>
        <p:nvSpPr>
          <p:cNvPr id="2" name="Text 2"/>
          <p:cNvSpPr txBox="1"/>
          <p:nvPr/>
        </p:nvSpPr>
        <p:spPr>
          <a:xfrm>
            <a:off x="609600" y="1428750"/>
            <a:ext cx="10953750" cy="428625"/>
          </a:xfrm>
          <a:prstGeom prst="rect">
            <a:avLst/>
          </a:prstGeom>
          <a:noFill/>
          <a:ln>
            <a:noFill/>
          </a:ln>
        </p:spPr>
        <p:txBody>
          <a:bodyPr wrap="square" lIns="0" rIns="0" tIns="0" bIns="0">
            <a:noAutofit/>
          </a:bodyPr>
          <a:lstStyle/>
          <a:p>
            <a:pPr>
              <a:lnSpc>
                <a:spcPct val="115000"/>
              </a:lnSpc>
            </a:pPr>
            <a:r>
              <a:rPr lang="ko-KR" sz="2100" b="1">
                <a:solidFill>
                  <a:srgbClr val="365DCB"/>
                </a:solidFill>
                <a:latin typeface="Apple SD Gothic Neo"/>
                <a:ea typeface="Apple SD Gothic Neo"/>
                <a:cs typeface="Apple SD Gothic Neo"/>
              </a:rPr>
              <a:t xml:space="preserve">agent/runbook_search.py  /  search_request()</a:t>
            </a:r>
            <a:endParaRPr lang="ko-KR" sz="2100"/>
          </a:p>
        </p:txBody>
      </p:sp>
      <p:sp>
        <p:nvSpPr>
          <p:cNvPr id="3" name="Text 3"/>
          <p:cNvSpPr txBox="1"/>
          <p:nvPr/>
        </p:nvSpPr>
        <p:spPr>
          <a:xfrm>
            <a:off x="609600" y="2143125"/>
            <a:ext cx="10953750" cy="1714500"/>
          </a:xfrm>
          <a:prstGeom prst="rect">
            <a:avLst/>
          </a:prstGeom>
          <a:noFill/>
          <a:ln>
            <a:noFill/>
          </a:ln>
        </p:spPr>
        <p:txBody>
          <a:bodyPr wrap="square" lIns="0" rIns="0" tIns="0" bIns="0">
            <a:noAutofit/>
          </a:bodyPr>
          <a:lstStyle/>
          <a:p>
            <a:pPr>
              <a:lnSpc>
                <a:spcPct val="115000"/>
              </a:lnSpc>
            </a:pPr>
            <a:r>
              <a:rPr lang="ko-KR" sz="2025">
                <a:solidFill>
                  <a:srgbClr val="172B4D"/>
                </a:solidFill>
                <a:latin typeface="Menlo"/>
                <a:ea typeface="Menlo"/>
                <a:cs typeface="Menlo"/>
              </a:rPr>
              <a:t xml:space="preserve">for kind in scope["included"]:</a:t>
            </a:r>
            <a:endParaRPr lang="ko-KR" sz="2025"/>
          </a:p>
          <a:p>
            <a:pPr>
              <a:lnSpc>
                <a:spcPct val="115000"/>
              </a:lnSpc>
            </a:pPr>
            <a:r>
              <a:rPr lang="ko-KR" sz="2025">
                <a:solidFill>
                  <a:srgbClr val="172B4D"/>
                </a:solidFill>
                <a:latin typeface="Menlo"/>
                <a:ea typeface="Menlo"/>
                <a:cs typeface="Menlo"/>
              </a:rPr>
              <a:t xml:space="preserve">    candidates = await self.search(TOPICS[kind][1])</a:t>
            </a:r>
            <a:endParaRPr lang="ko-KR" sz="2025"/>
          </a:p>
          <a:p>
            <a:pPr>
              <a:lnSpc>
                <a:spcPct val="115000"/>
              </a:lnSpc>
            </a:pPr>
            <a:r>
              <a:rPr lang="ko-KR" sz="2025">
                <a:solidFill>
                  <a:srgbClr val="172B4D"/>
                </a:solidFill>
                <a:latin typeface="Menlo"/>
                <a:ea typeface="Menlo"/>
                <a:cs typeface="Menlo"/>
              </a:rPr>
              <a:t xml:space="preserve">    matches = [h for h in candidates</a:t>
            </a:r>
            <a:endParaRPr lang="ko-KR" sz="2025"/>
          </a:p>
          <a:p>
            <a:pPr>
              <a:lnSpc>
                <a:spcPct val="115000"/>
              </a:lnSpc>
            </a:pPr>
            <a:r>
              <a:rPr lang="ko-KR" sz="2025">
                <a:solidFill>
                  <a:srgbClr val="172B4D"/>
                </a:solidFill>
                <a:latin typeface="Menlo"/>
                <a:ea typeface="Menlo"/>
                <a:cs typeface="Menlo"/>
              </a:rPr>
              <a:t xml:space="preserve">               if h["incident_type"] == kind]</a:t>
            </a:r>
            <a:endParaRPr lang="ko-KR" sz="2025"/>
          </a:p>
        </p:txBody>
      </p:sp>
      <p:sp>
        <p:nvSpPr>
          <p:cNvPr id="4" name="Text 4"/>
          <p:cNvSpPr txBox="1"/>
          <p:nvPr/>
        </p:nvSpPr>
        <p:spPr>
          <a:xfrm>
            <a:off x="609600" y="4295775"/>
            <a:ext cx="10953750" cy="952500"/>
          </a:xfrm>
          <a:prstGeom prst="rect">
            <a:avLst/>
          </a:prstGeom>
          <a:noFill/>
          <a:ln>
            <a:noFill/>
          </a:ln>
        </p:spPr>
        <p:txBody>
          <a:bodyPr wrap="square" lIns="0" rIns="0" tIns="0" bIns="0">
            <a:noAutofit/>
          </a:bodyPr>
          <a:lstStyle/>
          <a:p>
            <a:pPr>
              <a:lnSpc>
                <a:spcPct val="115000"/>
              </a:lnSpc>
            </a:pPr>
            <a:r>
              <a:rPr lang="ko-KR" sz="2175">
                <a:solidFill>
                  <a:srgbClr val="263248"/>
                </a:solidFill>
                <a:latin typeface="Apple SD Gothic Neo"/>
                <a:ea typeface="Apple SD Gothic Neo"/>
                <a:cs typeface="Apple SD Gothic Neo"/>
              </a:rPr>
              <a:t xml:space="preserve">범위 해석: 증상·제외 조건의 표현 규칙</a:t>
            </a:r>
            <a:endParaRPr lang="ko-KR" sz="2175"/>
          </a:p>
          <a:p>
            <a:pPr>
              <a:lnSpc>
                <a:spcPct val="115000"/>
              </a:lnSpc>
            </a:pPr>
            <a:r>
              <a:rPr lang="ko-KR" sz="2175">
                <a:solidFill>
                  <a:srgbClr val="263248"/>
                </a:solidFill>
                <a:latin typeface="Apple SD Gothic Neo"/>
                <a:ea typeface="Apple SD Gothic Neo"/>
                <a:cs typeface="Apple SD Gothic Neo"/>
              </a:rPr>
              <a:t xml:space="preserve">문서 선택: 임베딩 유사도와 최소 점수 조건</a:t>
            </a:r>
            <a:endParaRPr lang="ko-KR" sz="2175"/>
          </a:p>
        </p:txBody>
      </p:sp>
      <p:sp>
        <p:nvSpPr>
          <p:cNvPr id="5" name="Text 5"/>
          <p:cNvSpPr txBox="1"/>
          <p:nvPr/>
        </p:nvSpPr>
        <p:spPr>
          <a:xfrm>
            <a:off x="609600" y="5467350"/>
            <a:ext cx="109537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증상별 결과를 합치고 원문을 수집해 AI 작성 근거로 전달</a:t>
            </a:r>
            <a:endParaRPr lang="ko-KR" sz="2025"/>
          </a:p>
        </p:txBody>
      </p:sp>
      <p:sp>
        <p:nvSpPr>
          <p:cNvPr id="6" name="Text 6"/>
          <p:cNvSpPr txBox="1"/>
          <p:nvPr/>
        </p:nvSpPr>
        <p:spPr>
          <a:xfrm>
            <a:off x="609600" y="6067425"/>
            <a:ext cx="10953750" cy="381000"/>
          </a:xfrm>
          <a:prstGeom prst="rect">
            <a:avLst/>
          </a:prstGeom>
          <a:noFill/>
          <a:ln>
            <a:noFill/>
          </a:ln>
        </p:spPr>
        <p:txBody>
          <a:bodyPr wrap="square" lIns="0" rIns="0" tIns="0" bIns="0">
            <a:noAutofit/>
          </a:bodyPr>
          <a:lstStyle/>
          <a:p>
            <a:pPr>
              <a:lnSpc>
                <a:spcPct val="115000"/>
              </a:lnSpc>
            </a:pPr>
            <a:r>
              <a:rPr lang="ko-KR" sz="1800">
                <a:solidFill>
                  <a:srgbClr val="53657C"/>
                </a:solidFill>
                <a:latin typeface="Apple SD Gothic Neo"/>
                <a:ea typeface="Apple SD Gothic Neo"/>
                <a:cs typeface="Apple SD Gothic Neo"/>
              </a:rPr>
              <a:t xml:space="preserve">문서 누락·미지원 요청·검색 오류를 기본 런북으로 대체하지 않음</a:t>
            </a:r>
            <a:endParaRPr lang="ko-KR" sz="1800"/>
          </a:p>
        </p:txBody>
      </p:sp>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07 / 08</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증상별 RAG 검색과 범위 제한</a:t>
            </a:r>
            <a:endParaRPr lang="ko-KR" sz="33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name="검증·재작성과 다음 개선">
    <p:spTree>
      <p:nvGrpSpPr>
        <p:cNvPr id="1" name=""/>
        <p:cNvGrpSpPr/>
        <p:nvPr/>
      </p:nvGrpSpPr>
      <p:grpSpPr>
        <a:xfrm>
          <a:off x="0" y="0"/>
          <a:ext cx="0" cy="0"/>
          <a:chOff x="0" y="0"/>
          <a:chExt cx="0" cy="0"/>
        </a:xfrm>
      </p:grpSpPr>
      <p:sp>
        <p:nvSpPr>
          <p:cNvPr id="2" name="Text 2"/>
          <p:cNvSpPr txBox="1"/>
          <p:nvPr/>
        </p:nvSpPr>
        <p:spPr>
          <a:xfrm>
            <a:off x="609600" y="1428750"/>
            <a:ext cx="10953750" cy="428625"/>
          </a:xfrm>
          <a:prstGeom prst="rect">
            <a:avLst/>
          </a:prstGeom>
          <a:noFill/>
          <a:ln>
            <a:noFill/>
          </a:ln>
        </p:spPr>
        <p:txBody>
          <a:bodyPr wrap="square" lIns="0" rIns="0" tIns="0" bIns="0">
            <a:noAutofit/>
          </a:bodyPr>
          <a:lstStyle/>
          <a:p>
            <a:pPr>
              <a:lnSpc>
                <a:spcPct val="115000"/>
              </a:lnSpc>
            </a:pPr>
            <a:r>
              <a:rPr lang="ko-KR" sz="2100" b="1">
                <a:solidFill>
                  <a:srgbClr val="365DCB"/>
                </a:solidFill>
                <a:latin typeface="Apple SD Gothic Neo"/>
                <a:ea typeface="Apple SD Gothic Neo"/>
                <a:cs typeface="Apple SD Gothic Neo"/>
              </a:rPr>
              <a:t xml:space="preserve">agent/nodes/writing.py  /  validate_node()</a:t>
            </a:r>
            <a:endParaRPr lang="ko-KR" sz="2100"/>
          </a:p>
        </p:txBody>
      </p:sp>
      <p:sp>
        <p:nvSpPr>
          <p:cNvPr id="3" name="Text 3"/>
          <p:cNvSpPr txBox="1"/>
          <p:nvPr/>
        </p:nvSpPr>
        <p:spPr>
          <a:xfrm>
            <a:off x="609600" y="2143125"/>
            <a:ext cx="10953750" cy="1714500"/>
          </a:xfrm>
          <a:prstGeom prst="rect">
            <a:avLst/>
          </a:prstGeom>
          <a:noFill/>
          <a:ln>
            <a:noFill/>
          </a:ln>
        </p:spPr>
        <p:txBody>
          <a:bodyPr wrap="square" lIns="0" rIns="0" tIns="0" bIns="0">
            <a:noAutofit/>
          </a:bodyPr>
          <a:lstStyle/>
          <a:p>
            <a:pPr>
              <a:lnSpc>
                <a:spcPct val="115000"/>
              </a:lnSpc>
            </a:pPr>
            <a:r>
              <a:rPr lang="ko-KR" sz="2175">
                <a:solidFill>
                  <a:srgbClr val="172B4D"/>
                </a:solidFill>
                <a:latin typeface="Menlo"/>
                <a:ea typeface="Menlo"/>
                <a:cs typeface="Menlo"/>
              </a:rPr>
              <a:t xml:space="preserve">proposal, issues = validate_proposal(</a:t>
            </a:r>
            <a:endParaRPr lang="ko-KR" sz="2175"/>
          </a:p>
          <a:p>
            <a:pPr>
              <a:lnSpc>
                <a:spcPct val="115000"/>
              </a:lnSpc>
            </a:pPr>
            <a:r>
              <a:rPr lang="ko-KR" sz="2175">
                <a:solidFill>
                  <a:srgbClr val="172B4D"/>
                </a:solidFill>
                <a:latin typeface="Menlo"/>
                <a:ea typeface="Menlo"/>
                <a:cs typeface="Menlo"/>
              </a:rPr>
              <a:t xml:space="preserve">    state["draft"],</a:t>
            </a:r>
            <a:endParaRPr lang="ko-KR" sz="2175"/>
          </a:p>
          <a:p>
            <a:pPr>
              <a:lnSpc>
                <a:spcPct val="115000"/>
              </a:lnSpc>
            </a:pPr>
            <a:r>
              <a:rPr lang="ko-KR" sz="2175">
                <a:solidFill>
                  <a:srgbClr val="172B4D"/>
                </a:solidFill>
                <a:latin typeface="Menlo"/>
                <a:ea typeface="Menlo"/>
                <a:cs typeface="Menlo"/>
              </a:rPr>
              <a:t xml:space="preserve">    state.get("collected", []),</a:t>
            </a:r>
            <a:endParaRPr lang="ko-KR" sz="2175"/>
          </a:p>
          <a:p>
            <a:pPr>
              <a:lnSpc>
                <a:spcPct val="115000"/>
              </a:lnSpc>
            </a:pPr>
            <a:r>
              <a:rPr lang="ko-KR" sz="2175">
                <a:solidFill>
                  <a:srgbClr val="172B4D"/>
                </a:solidFill>
                <a:latin typeface="Menlo"/>
                <a:ea typeface="Menlo"/>
                <a:cs typeface="Menlo"/>
              </a:rPr>
              <a:t xml:space="preserve">    state.get("registered_targets", []))</a:t>
            </a:r>
            <a:endParaRPr lang="ko-KR" sz="2175"/>
          </a:p>
        </p:txBody>
      </p:sp>
      <p:sp>
        <p:nvSpPr>
          <p:cNvPr id="4" name="Text 4"/>
          <p:cNvSpPr txBox="1"/>
          <p:nvPr/>
        </p:nvSpPr>
        <p:spPr>
          <a:xfrm>
            <a:off x="609600" y="4191000"/>
            <a:ext cx="10953750" cy="428625"/>
          </a:xfrm>
          <a:prstGeom prst="rect">
            <a:avLst/>
          </a:prstGeom>
          <a:noFill/>
          <a:ln>
            <a:noFill/>
          </a:ln>
        </p:spPr>
        <p:txBody>
          <a:bodyPr wrap="square" lIns="0" rIns="0" tIns="0" bIns="0">
            <a:noAutofit/>
          </a:bodyPr>
          <a:lstStyle/>
          <a:p>
            <a:pPr>
              <a:lnSpc>
                <a:spcPct val="115000"/>
              </a:lnSpc>
            </a:pPr>
            <a:r>
              <a:rPr lang="ko-KR" sz="2250" b="1">
                <a:solidFill>
                  <a:srgbClr val="172B4D"/>
                </a:solidFill>
                <a:latin typeface="Apple SD Gothic Neo"/>
                <a:ea typeface="Apple SD Gothic Neo"/>
                <a:cs typeface="Apple SD Gothic Neo"/>
              </a:rPr>
              <a:t xml:space="preserve">출처·대상·조건·요청 범위 검사, 최대 3회 작성</a:t>
            </a:r>
            <a:endParaRPr lang="ko-KR" sz="2250"/>
          </a:p>
        </p:txBody>
      </p:sp>
      <p:sp>
        <p:nvSpPr>
          <p:cNvPr id="5" name="Text 5"/>
          <p:cNvSpPr txBox="1"/>
          <p:nvPr/>
        </p:nvSpPr>
        <p:spPr>
          <a:xfrm>
            <a:off x="609600" y="4838700"/>
            <a:ext cx="10953750" cy="857250"/>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자동 테스트 76개 통과, 대표 실모델 실행 확인</a:t>
            </a:r>
            <a:endParaRPr lang="ko-KR" sz="2025"/>
          </a:p>
          <a:p>
            <a:pPr>
              <a:lnSpc>
                <a:spcPct val="115000"/>
              </a:lnSpc>
            </a:pPr>
            <a:r>
              <a:rPr lang="ko-KR" sz="2025">
                <a:solidFill>
                  <a:srgbClr val="263248"/>
                </a:solidFill>
                <a:latin typeface="Apple SD Gothic Neo"/>
                <a:ea typeface="Apple SD Gothic Neo"/>
                <a:cs typeface="Apple SD Gothic Neo"/>
              </a:rPr>
              <a:t xml:space="preserve">원인 확정과 전체 검색 정확도 검증은 별도</a:t>
            </a:r>
            <a:endParaRPr lang="ko-KR" sz="2025"/>
          </a:p>
        </p:txBody>
      </p:sp>
      <p:sp>
        <p:nvSpPr>
          <p:cNvPr id="6" name="Text 6"/>
          <p:cNvSpPr txBox="1"/>
          <p:nvPr/>
        </p:nvSpPr>
        <p:spPr>
          <a:xfrm>
            <a:off x="609600" y="5953125"/>
            <a:ext cx="10953750" cy="428625"/>
          </a:xfrm>
          <a:prstGeom prst="rect">
            <a:avLst/>
          </a:prstGeom>
          <a:noFill/>
          <a:ln>
            <a:noFill/>
          </a:ln>
        </p:spPr>
        <p:txBody>
          <a:bodyPr wrap="square" lIns="0" rIns="0" tIns="0" bIns="0">
            <a:noAutofit/>
          </a:bodyPr>
          <a:lstStyle/>
          <a:p>
            <a:pPr>
              <a:lnSpc>
                <a:spcPct val="115000"/>
              </a:lnSpc>
            </a:pPr>
            <a:r>
              <a:rPr lang="ko-KR" sz="1875">
                <a:solidFill>
                  <a:srgbClr val="53657C"/>
                </a:solidFill>
                <a:latin typeface="Apple SD Gothic Neo"/>
                <a:ea typeface="Apple SD Gothic Neo"/>
                <a:cs typeface="Apple SD Gothic Neo"/>
              </a:rPr>
              <a:t xml:space="preserve">다음 개선: 복잡한 범위 표현, 후속 대화 연결, 동기 호출</a:t>
            </a:r>
            <a:endParaRPr lang="ko-KR" sz="1875"/>
          </a:p>
        </p:txBody>
      </p:sp>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08 / 08</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검증·재작성과 다음 개선</a:t>
            </a:r>
            <a:endParaRPr lang="ko-KR" sz="3300"/>
          </a:p>
        </p:txBody>
      </p:sp>
    </p:spTree>
  </p:cSld>
  <p:clrMapOvr>
    <a:masterClrMapping/>
  </p:clrMapOvr>
</p:sld>
</file>

<file path=ppt/theme/theme1.xml><?xml version="1.0" encoding="utf-8"?>
<a:theme xmlns:a="http://schemas.openxmlformats.org/drawingml/2006/main" name="Incident">
  <a:themeElements>
    <a:clrScheme name="Incident">
      <a:dk1>
        <a:srgbClr val="172B4D"/>
      </a:dk1>
      <a:lt1>
        <a:srgbClr val="FFFFFF"/>
      </a:lt1>
      <a:dk2>
        <a:srgbClr val="263248"/>
      </a:dk2>
      <a:lt2>
        <a:srgbClr val="F3F5F9"/>
      </a:lt2>
      <a:accent1>
        <a:srgbClr val="365DCB"/>
      </a:accent1>
      <a:accent2>
        <a:srgbClr val="53657C"/>
      </a:accent2>
      <a:accent3>
        <a:srgbClr val="1A7B67"/>
      </a:accent3>
      <a:accent4>
        <a:srgbClr val="A6682B"/>
      </a:accent4>
      <a:accent5>
        <a:srgbClr val="8157B4"/>
      </a:accent5>
      <a:accent6>
        <a:srgbClr val="BB4D5C"/>
      </a:accent6>
      <a:hlink>
        <a:srgbClr val="365DCB"/>
      </a:hlink>
      <a:folHlink>
        <a:srgbClr val="8157B4"/>
      </a:folHlink>
    </a:clrScheme>
    <a:fontScheme name="Korean">
      <a:majorFont>
        <a:latin typeface="Apple SD Gothic Neo"/>
        <a:ea typeface="Apple SD Gothic Neo"/>
        <a:cs typeface="Apple SD Gothic Neo"/>
      </a:majorFont>
      <a:minorFont>
        <a:latin typeface="Apple SD Gothic Neo"/>
        <a:ea typeface="Apple SD Gothic Neo"/>
        <a:cs typeface="Apple SD Gothic Neo"/>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